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handoutMasterIdLst>
    <p:handoutMasterId r:id="rId24"/>
  </p:handoutMasterIdLst>
  <p:sldIdLst>
    <p:sldId id="333" r:id="rId2"/>
    <p:sldId id="582" r:id="rId3"/>
    <p:sldId id="580" r:id="rId4"/>
    <p:sldId id="579" r:id="rId5"/>
    <p:sldId id="583" r:id="rId6"/>
    <p:sldId id="584" r:id="rId7"/>
    <p:sldId id="586" r:id="rId8"/>
    <p:sldId id="585" r:id="rId9"/>
    <p:sldId id="587" r:id="rId10"/>
    <p:sldId id="588" r:id="rId11"/>
    <p:sldId id="590" r:id="rId12"/>
    <p:sldId id="591" r:id="rId13"/>
    <p:sldId id="592" r:id="rId14"/>
    <p:sldId id="597" r:id="rId15"/>
    <p:sldId id="593" r:id="rId16"/>
    <p:sldId id="594" r:id="rId17"/>
    <p:sldId id="596" r:id="rId18"/>
    <p:sldId id="595" r:id="rId19"/>
    <p:sldId id="598" r:id="rId20"/>
    <p:sldId id="599" r:id="rId21"/>
    <p:sldId id="600" r:id="rId22"/>
  </p:sldIdLst>
  <p:sldSz cx="12192000" cy="6858000"/>
  <p:notesSz cx="9872663" cy="67421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4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8E"/>
    <a:srgbClr val="00478D"/>
    <a:srgbClr val="FF0000"/>
    <a:srgbClr val="FFFFFF"/>
    <a:srgbClr val="5E84F0"/>
    <a:srgbClr val="0000EE"/>
    <a:srgbClr val="EAF3F6"/>
    <a:srgbClr val="EDF6F9"/>
    <a:srgbClr val="0092F6"/>
    <a:srgbClr val="00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107856-5554-42FB-B03E-39F5DBC370B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8" autoAdjust="0"/>
    <p:restoredTop sz="95332" autoAdjust="0"/>
  </p:normalViewPr>
  <p:slideViewPr>
    <p:cSldViewPr>
      <p:cViewPr>
        <p:scale>
          <a:sx n="75" d="100"/>
          <a:sy n="75" d="100"/>
        </p:scale>
        <p:origin x="974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1838" y="-91"/>
      </p:cViewPr>
      <p:guideLst>
        <p:guide orient="horz" pos="2124"/>
        <p:guide pos="311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5592223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C2360-F554-4217-B701-3D6B15BEA1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54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3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B8752-058A-494D-9C5E-D5621527D1EA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0813" y="506413"/>
            <a:ext cx="4491037" cy="2527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02505"/>
            <a:ext cx="7898130" cy="30339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3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F1F6B-90EC-475F-A810-55E4A29351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9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0813" y="506413"/>
            <a:ext cx="4491037" cy="2527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F1F6B-90EC-475F-A810-55E4A293515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fld id="{8CF75A0A-28DD-483E-8E23-88B1856AA1D8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9E1D-9AB4-48CA-BC6C-A04BFCB7DE3F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fld id="{B9D85AF0-D70B-425A-BEED-0E8D4D0C446B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AA5B-0B90-4CA6-86DB-8FCD360881C8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5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5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4B891-FD48-42DB-9E04-8967F81CBF71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8075-DB16-4E67-995B-F0FDC278C4B4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3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1F5B-613A-49B8-9304-8705C238A4BB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5AF2-9DED-4CE2-B063-C91DA678AB27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D304-9A0B-448B-94C7-A8E83D7A225A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C092-00CA-4568-AC90-CF78EF3F28F3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80E645-1232-428A-8041-45DCCBBAAC66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 txBox="1">
            <a:spLocks noChangeArrowheads="1"/>
          </p:cNvSpPr>
          <p:nvPr/>
        </p:nvSpPr>
        <p:spPr>
          <a:xfrm>
            <a:off x="685798" y="1567200"/>
            <a:ext cx="11506200" cy="969496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000" b="1" dirty="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A Neuro-Symbolic Multi-Agent Framework for Pre-Release Audience Response Generation in Bangla Cinema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8" y="4939949"/>
            <a:ext cx="648701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Chittagong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Chattogram-4331, Bangladesh </a:t>
            </a:r>
          </a:p>
        </p:txBody>
      </p:sp>
      <p:pic>
        <p:nvPicPr>
          <p:cNvPr id="5" name="Picture 4" descr="University of Chittagong - Wikipedia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0000E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560" y="407380"/>
            <a:ext cx="686880" cy="97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73654D1-F80E-EF24-A902-90BFFC95BBC0}"/>
              </a:ext>
            </a:extLst>
          </p:cNvPr>
          <p:cNvGrpSpPr/>
          <p:nvPr/>
        </p:nvGrpSpPr>
        <p:grpSpPr>
          <a:xfrm>
            <a:off x="685798" y="3462318"/>
            <a:ext cx="10744201" cy="1077218"/>
            <a:chOff x="804568" y="3594394"/>
            <a:chExt cx="7534864" cy="1077218"/>
          </a:xfrm>
        </p:grpSpPr>
        <p:sp>
          <p:nvSpPr>
            <p:cNvPr id="3" name="TextBox 2"/>
            <p:cNvSpPr txBox="1"/>
            <p:nvPr/>
          </p:nvSpPr>
          <p:spPr>
            <a:xfrm>
              <a:off x="804568" y="3594394"/>
              <a:ext cx="2286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Presented by</a:t>
              </a: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Sabbir Hossain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ID: 21701082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38832" y="3594394"/>
              <a:ext cx="48006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Supervised by</a:t>
              </a: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Dr. Mohammad Shahadat Hossain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Professor</a:t>
              </a:r>
            </a:p>
          </p:txBody>
        </p:sp>
      </p:grp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>
          <a:xfrm>
            <a:off x="304800" y="6145266"/>
            <a:ext cx="2434135" cy="329184"/>
          </a:xfrm>
        </p:spPr>
        <p:txBody>
          <a:bodyPr/>
          <a:lstStyle/>
          <a:p>
            <a:pPr algn="ctr"/>
            <a:r>
              <a:rPr kumimoji="1" lang="en-US" altLang="ja-JP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August 7, 2026</a:t>
            </a:r>
            <a:endParaRPr kumimoji="1" lang="ja-JP" alt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E4CF6C2-DC49-3FEE-DBBC-AD053ED82297}"/>
              </a:ext>
            </a:extLst>
          </p:cNvPr>
          <p:cNvSpPr txBox="1">
            <a:spLocks noChangeArrowheads="1"/>
          </p:cNvSpPr>
          <p:nvPr/>
        </p:nvSpPr>
        <p:spPr>
          <a:xfrm>
            <a:off x="685798" y="2569462"/>
            <a:ext cx="3724275" cy="492443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A Verifier-in-the-Loop Approach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F65180-E977-9607-5F6B-8BECD2837417}"/>
              </a:ext>
            </a:extLst>
          </p:cNvPr>
          <p:cNvSpPr/>
          <p:nvPr/>
        </p:nvSpPr>
        <p:spPr>
          <a:xfrm>
            <a:off x="3793078" y="3527851"/>
            <a:ext cx="152400" cy="9223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2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8158-1917-77D5-972E-6183E217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4B1B1-F04B-4B6E-C193-CE0F54B7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49375-43C2-BC05-457D-688C94E1AAFA}"/>
              </a:ext>
            </a:extLst>
          </p:cNvPr>
          <p:cNvSpPr/>
          <p:nvPr/>
        </p:nvSpPr>
        <p:spPr>
          <a:xfrm>
            <a:off x="681789" y="3810000"/>
            <a:ext cx="5164238" cy="229402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Generation and Control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Fluent generation alone does not ensure that a response consistently expresses a requested characteristic. It also does not establish that the generated text represents genuine audience reception, preference, or behavior.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437548-E786-DACE-DE2F-18D4379F5F62}"/>
              </a:ext>
            </a:extLst>
          </p:cNvPr>
          <p:cNvSpPr/>
          <p:nvPr/>
        </p:nvSpPr>
        <p:spPr>
          <a:xfrm>
            <a:off x="6231038" y="3810000"/>
            <a:ext cx="5351362" cy="2286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Bangla Research Context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study uses a 5,000 raw Bangla movie-review corpus to examine textual response patterns. Since the corpus contains no movie-title or audience-demographic information, it supports controlled response generation, but not film-specific audience modelling or audience-group prediction.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F33411-2708-A5E6-7154-C228E0C290E1}"/>
              </a:ext>
            </a:extLst>
          </p:cNvPr>
          <p:cNvSpPr/>
          <p:nvPr/>
        </p:nvSpPr>
        <p:spPr>
          <a:xfrm>
            <a:off x="685800" y="1371600"/>
            <a:ext cx="5164238" cy="2209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 Commentary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 comments help explain how viewers interpret a film’s characters, events, and narrative. However, authentic responses to a film become available only after audiences have watched it.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1DFCC-EF9F-94EC-4506-05760429FFE9}"/>
              </a:ext>
            </a:extLst>
          </p:cNvPr>
          <p:cNvSpPr/>
          <p:nvPr/>
        </p:nvSpPr>
        <p:spPr>
          <a:xfrm>
            <a:off x="6231038" y="1371600"/>
            <a:ext cx="5351362" cy="2209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Pre-release Generation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release, LLMs can generate plausible, audience-like responses in Bangla from film plots. This creates an opportunity to study pre-release response generation without claiming access to actual audience opinions.</a:t>
            </a:r>
          </a:p>
        </p:txBody>
      </p:sp>
    </p:spTree>
    <p:extLst>
      <p:ext uri="{BB962C8B-B14F-4D97-AF65-F5344CB8AC3E}">
        <p14:creationId xmlns:p14="http://schemas.microsoft.com/office/powerpoint/2010/main" val="86818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937D-D411-0570-91E5-B7BC791B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DA20F-0145-27DD-EB1D-004A7676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EAF2D114-BEA6-30DC-7843-27A5D882D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965"/>
              </p:ext>
            </p:extLst>
          </p:nvPr>
        </p:nvGraphicFramePr>
        <p:xfrm>
          <a:off x="609600" y="1397000"/>
          <a:ext cx="10972800" cy="4622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79509264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92919642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913697284"/>
                    </a:ext>
                  </a:extLst>
                </a:gridCol>
              </a:tblGrid>
              <a:tr h="2311400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91161"/>
                  </a:ext>
                </a:extLst>
              </a:tr>
              <a:tr h="2311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06367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7C262232-52CF-3899-E4C1-49BC56D1F7B5}"/>
              </a:ext>
            </a:extLst>
          </p:cNvPr>
          <p:cNvGrpSpPr/>
          <p:nvPr/>
        </p:nvGrpSpPr>
        <p:grpSpPr>
          <a:xfrm>
            <a:off x="196218" y="1192106"/>
            <a:ext cx="2514600" cy="2660888"/>
            <a:chOff x="1828801" y="1393753"/>
            <a:chExt cx="2129823" cy="246454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AFE16FE-6034-3D90-0683-9BA6EF96B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2362200"/>
              <a:ext cx="2053624" cy="149609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A68C606-7C0A-8361-838A-D232A5204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1" y="1393753"/>
              <a:ext cx="1879775" cy="890323"/>
            </a:xfrm>
            <a:prstGeom prst="rect">
              <a:avLst/>
            </a:prstGeom>
          </p:spPr>
        </p:pic>
        <p:sp>
          <p:nvSpPr>
            <p:cNvPr id="40" name="Arrow: Circular 39">
              <a:extLst>
                <a:ext uri="{FF2B5EF4-FFF2-40B4-BE49-F238E27FC236}">
                  <a16:creationId xmlns:a16="http://schemas.microsoft.com/office/drawing/2014/main" id="{075997E7-ED34-6C46-1D33-C362C1F74415}"/>
                </a:ext>
              </a:extLst>
            </p:cNvPr>
            <p:cNvSpPr/>
            <p:nvPr/>
          </p:nvSpPr>
          <p:spPr>
            <a:xfrm>
              <a:off x="3175175" y="1906323"/>
              <a:ext cx="685800" cy="762000"/>
            </a:xfrm>
            <a:prstGeom prst="circularArrow">
              <a:avLst>
                <a:gd name="adj1" fmla="val 10497"/>
                <a:gd name="adj2" fmla="val 1142320"/>
                <a:gd name="adj3" fmla="val 4698381"/>
                <a:gd name="adj4" fmla="val 15007388"/>
                <a:gd name="adj5" fmla="val 9892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AB0E2B9-C190-C892-74DD-54AFE08C23D5}"/>
              </a:ext>
            </a:extLst>
          </p:cNvPr>
          <p:cNvSpPr/>
          <p:nvPr/>
        </p:nvSpPr>
        <p:spPr>
          <a:xfrm>
            <a:off x="609600" y="3793131"/>
            <a:ext cx="3016214" cy="22642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 Does Not Guarantee Control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LLM may be instructed to produce a general or plot-specific response, but the instruction alone cannot confirm that the requested distinction has been achieved.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55F43E4-FC9D-446B-10CA-9D00BD9B66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249" y="1772764"/>
            <a:ext cx="2167014" cy="1555425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9A16CF9-FE79-8A3F-B77A-D9B9ECC28300}"/>
              </a:ext>
            </a:extLst>
          </p:cNvPr>
          <p:cNvSpPr/>
          <p:nvPr/>
        </p:nvSpPr>
        <p:spPr>
          <a:xfrm>
            <a:off x="4579176" y="1397000"/>
            <a:ext cx="3129773" cy="207499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May Depend on Unintended Cues</a:t>
            </a:r>
          </a:p>
          <a:p>
            <a:pPr algn="just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generated response may satisfy a classifier because of superficial features, such as response length, rather than the intended response characteristics.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EB49854-639A-6220-5831-B56C074332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814" y="4030918"/>
            <a:ext cx="2011894" cy="1573757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38225D7-743B-9D16-2266-D28A9428EF08}"/>
              </a:ext>
            </a:extLst>
          </p:cNvPr>
          <p:cNvSpPr/>
          <p:nvPr/>
        </p:nvSpPr>
        <p:spPr>
          <a:xfrm>
            <a:off x="5356556" y="3725992"/>
            <a:ext cx="1912102" cy="19812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Unreliable Self-correction</a:t>
            </a:r>
          </a:p>
          <a:p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Revision may fail without external, task-specific feedback.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BAAF6E0-9C03-1740-F9E2-AE54E2EA1E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505" y="988089"/>
            <a:ext cx="3273361" cy="1842244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0D26371-59BF-E545-5740-ABB6855550D2}"/>
              </a:ext>
            </a:extLst>
          </p:cNvPr>
          <p:cNvSpPr/>
          <p:nvPr/>
        </p:nvSpPr>
        <p:spPr>
          <a:xfrm>
            <a:off x="8033464" y="2683654"/>
            <a:ext cx="3668566" cy="108830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Evaluator Separation</a:t>
            </a:r>
          </a:p>
          <a:p>
            <a:endPara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outcomes require an evaluator outside the generation loop.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1682573-9FD4-D1F8-054D-6DF37AF8C6E2}"/>
              </a:ext>
            </a:extLst>
          </p:cNvPr>
          <p:cNvSpPr/>
          <p:nvPr/>
        </p:nvSpPr>
        <p:spPr>
          <a:xfrm>
            <a:off x="7708949" y="4030918"/>
            <a:ext cx="4070472" cy="1988882"/>
          </a:xfrm>
          <a:prstGeom prst="roundRect">
            <a:avLst/>
          </a:prstGeom>
          <a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Research Need</a:t>
            </a:r>
          </a:p>
          <a:p>
            <a:pPr algn="just"/>
            <a:endParaRPr lang="en-US" sz="1000" b="1" u="sng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make Bangla cinema response generation controllable and auditable through external verification, bounded revision, and independent outcome evaluation.</a:t>
            </a:r>
          </a:p>
        </p:txBody>
      </p:sp>
    </p:spTree>
    <p:extLst>
      <p:ext uri="{BB962C8B-B14F-4D97-AF65-F5344CB8AC3E}">
        <p14:creationId xmlns:p14="http://schemas.microsoft.com/office/powerpoint/2010/main" val="114742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D13DCA-36DB-EC5C-14FF-61FA914A421D}"/>
              </a:ext>
            </a:extLst>
          </p:cNvPr>
          <p:cNvSpPr/>
          <p:nvPr/>
        </p:nvSpPr>
        <p:spPr>
          <a:xfrm>
            <a:off x="609600" y="1371600"/>
            <a:ext cx="207264" cy="1100008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5538B-3E71-0AC7-DD13-503A4069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C9552-54D3-842C-A48F-30316A26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36EAC-4961-A934-41DF-6831C05AE803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21EFC4-D149-7E8F-D8CE-D232C487E97E}"/>
              </a:ext>
            </a:extLst>
          </p:cNvPr>
          <p:cNvSpPr/>
          <p:nvPr/>
        </p:nvSpPr>
        <p:spPr>
          <a:xfrm>
            <a:off x="762000" y="1371600"/>
            <a:ext cx="108254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Research Problem</a:t>
            </a:r>
          </a:p>
          <a:p>
            <a:endParaRPr lang="en-US" sz="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problem is that prompting alone cannot ensure the requested level of engagement specificity. Even after revision, a higher score from the guiding verifier does not necessarily mean that a separate evaluator will find an improvement.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AF5DF-C397-1673-9951-54994E2FE64E}"/>
              </a:ext>
            </a:extLst>
          </p:cNvPr>
          <p:cNvSpPr txBox="1"/>
          <p:nvPr/>
        </p:nvSpPr>
        <p:spPr>
          <a:xfrm>
            <a:off x="609600" y="2700208"/>
            <a:ext cx="41919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Connected Problem Dimensions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F633F4-07CE-EC40-78E2-F5AA6DFCEF74}"/>
              </a:ext>
            </a:extLst>
          </p:cNvPr>
          <p:cNvSpPr/>
          <p:nvPr/>
        </p:nvSpPr>
        <p:spPr>
          <a:xfrm>
            <a:off x="609600" y="4724400"/>
            <a:ext cx="3429000" cy="1447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 Ambiguity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target distinction may reflect sentiment, text length, or corpus artefacts rather than engagement specificity.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33520E-EE11-F2DE-7F93-B73545FDE7E6}"/>
              </a:ext>
            </a:extLst>
          </p:cNvPr>
          <p:cNvSpPr/>
          <p:nvPr/>
        </p:nvSpPr>
        <p:spPr>
          <a:xfrm>
            <a:off x="4495800" y="4713790"/>
            <a:ext cx="3352800" cy="145841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Uncertainty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 alone cannot ensure that a response follows the requested engagement-specificity level.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A29170-442B-CA22-56C1-CF1C0A420218}"/>
              </a:ext>
            </a:extLst>
          </p:cNvPr>
          <p:cNvSpPr/>
          <p:nvPr/>
        </p:nvSpPr>
        <p:spPr>
          <a:xfrm>
            <a:off x="8229600" y="4724400"/>
            <a:ext cx="3352800" cy="1447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Circularity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verifier guiding generation cannot independently certify the resulting improvement.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2DB569-0E52-784D-E9F1-C8235A52CB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213" y="3032967"/>
            <a:ext cx="1713825" cy="17138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DC65C2-5695-46CB-BA51-BE72A3AF3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300" y="2771365"/>
            <a:ext cx="2057400" cy="2057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D67AA3-E0CD-FB9E-79D9-F0089AC92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2290147"/>
            <a:ext cx="3124200" cy="30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3CB5-93B5-BC8F-3142-A6FE6616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Aim and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C4D9A-5BEA-4607-4E08-535FA1C2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B6790B-F8D0-85C3-6AB0-48F56D3FD89A}"/>
              </a:ext>
            </a:extLst>
          </p:cNvPr>
          <p:cNvSpPr/>
          <p:nvPr/>
        </p:nvSpPr>
        <p:spPr>
          <a:xfrm>
            <a:off x="685800" y="1295400"/>
            <a:ext cx="207264" cy="83820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59574-3C7E-9CB0-516F-926C726EDB36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2AD99D-7BDC-350C-FEF1-00CF86B182C7}"/>
              </a:ext>
            </a:extLst>
          </p:cNvPr>
          <p:cNvSpPr/>
          <p:nvPr/>
        </p:nvSpPr>
        <p:spPr>
          <a:xfrm>
            <a:off x="914400" y="1295400"/>
            <a:ext cx="10515600" cy="8382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</a:p>
          <a:p>
            <a:endParaRPr lang="en-US" sz="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and evaluate an auditable framework for controllable Bangla cinema response generation.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29A50D07-0677-602C-C3A1-842EC7486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77894"/>
              </p:ext>
            </p:extLst>
          </p:nvPr>
        </p:nvGraphicFramePr>
        <p:xfrm>
          <a:off x="816864" y="2362200"/>
          <a:ext cx="10536937" cy="3733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011936">
                  <a:extLst>
                    <a:ext uri="{9D8B030D-6E8A-4147-A177-3AD203B41FA5}">
                      <a16:colId xmlns:a16="http://schemas.microsoft.com/office/drawing/2014/main" val="1052337306"/>
                    </a:ext>
                  </a:extLst>
                </a:gridCol>
                <a:gridCol w="3023487">
                  <a:extLst>
                    <a:ext uri="{9D8B030D-6E8A-4147-A177-3AD203B41FA5}">
                      <a16:colId xmlns:a16="http://schemas.microsoft.com/office/drawing/2014/main" val="241774332"/>
                    </a:ext>
                  </a:extLst>
                </a:gridCol>
                <a:gridCol w="6501514">
                  <a:extLst>
                    <a:ext uri="{9D8B030D-6E8A-4147-A177-3AD203B41FA5}">
                      <a16:colId xmlns:a16="http://schemas.microsoft.com/office/drawing/2014/main" val="142072996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5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Study the Reviews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5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Identify a meaningful response distinction and check whether it reflects sentiment, length, or source differences.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30547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5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 Human Recognition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5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 whether Bangla readers can recognize the distinction.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57155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5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Separate Guidance and Evaluation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5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one verifier to guide generation and another to evaluate the outputs.</a:t>
                      </a:r>
                      <a:endParaRPr lang="en-US" sz="15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50025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5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Build the Workflow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5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Combine retrieval, generation, verification, and feedback with a fixed revision limit.</a:t>
                      </a:r>
                      <a:endParaRPr lang="en-US" sz="15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95375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5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Evaluate the Results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5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Measure response control, human recognition, computational cost, and disagreement between verifiers.</a:t>
                      </a:r>
                      <a:endParaRPr lang="en-US" sz="15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83843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D92CEB3A-D37E-D046-0FBE-0B966DE3057D}"/>
              </a:ext>
            </a:extLst>
          </p:cNvPr>
          <p:cNvSpPr/>
          <p:nvPr/>
        </p:nvSpPr>
        <p:spPr>
          <a:xfrm>
            <a:off x="1078374" y="4759393"/>
            <a:ext cx="571500" cy="586272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A07180-6C25-6BBA-37E6-700DA24CA6F7}"/>
              </a:ext>
            </a:extLst>
          </p:cNvPr>
          <p:cNvSpPr/>
          <p:nvPr/>
        </p:nvSpPr>
        <p:spPr>
          <a:xfrm>
            <a:off x="1062942" y="3223728"/>
            <a:ext cx="571500" cy="586272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4CD521-BD7E-3262-5131-02E6BEC42F99}"/>
              </a:ext>
            </a:extLst>
          </p:cNvPr>
          <p:cNvSpPr/>
          <p:nvPr/>
        </p:nvSpPr>
        <p:spPr>
          <a:xfrm>
            <a:off x="1062942" y="3985728"/>
            <a:ext cx="571500" cy="586272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256F8B-36A9-72FE-2FE6-8903AF28BC2E}"/>
              </a:ext>
            </a:extLst>
          </p:cNvPr>
          <p:cNvSpPr/>
          <p:nvPr/>
        </p:nvSpPr>
        <p:spPr>
          <a:xfrm>
            <a:off x="1078374" y="5502169"/>
            <a:ext cx="571500" cy="586272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A9EFDB-D1A8-05E4-8953-A86667E64059}"/>
              </a:ext>
            </a:extLst>
          </p:cNvPr>
          <p:cNvSpPr/>
          <p:nvPr/>
        </p:nvSpPr>
        <p:spPr>
          <a:xfrm>
            <a:off x="1049679" y="2519974"/>
            <a:ext cx="571500" cy="586272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757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6E0B-F59D-4FB1-7012-49DAE1E1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6CA76-8B36-1451-8F3B-F7AA7A09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F7728B-17E8-8548-FC3E-74E277059149}"/>
              </a:ext>
            </a:extLst>
          </p:cNvPr>
          <p:cNvSpPr/>
          <p:nvPr/>
        </p:nvSpPr>
        <p:spPr>
          <a:xfrm>
            <a:off x="609600" y="1371600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RQ1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312B4-CDF5-ED62-EDBE-A0BB6408F0B5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0A3FE4-DD8E-5D1B-8C20-BAB764C38654}"/>
              </a:ext>
            </a:extLst>
          </p:cNvPr>
          <p:cNvSpPr/>
          <p:nvPr/>
        </p:nvSpPr>
        <p:spPr>
          <a:xfrm>
            <a:off x="1828800" y="1371600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identify a stable response distinction in Bangla reviews that human readers can recognize?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5BDC25-6609-10B5-21D2-096718DC27C4}"/>
              </a:ext>
            </a:extLst>
          </p:cNvPr>
          <p:cNvSpPr/>
          <p:nvPr/>
        </p:nvSpPr>
        <p:spPr>
          <a:xfrm>
            <a:off x="604520" y="2573398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RQ2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2B0EC-3ADF-6B34-BA45-795259098BB7}"/>
              </a:ext>
            </a:extLst>
          </p:cNvPr>
          <p:cNvSpPr txBox="1"/>
          <p:nvPr/>
        </p:nvSpPr>
        <p:spPr>
          <a:xfrm>
            <a:off x="1976120" y="280199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E4B18A-3D0C-7142-1C42-3248669C7967}"/>
              </a:ext>
            </a:extLst>
          </p:cNvPr>
          <p:cNvSpPr/>
          <p:nvPr/>
        </p:nvSpPr>
        <p:spPr>
          <a:xfrm>
            <a:off x="1823720" y="2573398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 do the tested generation strategies improve control over the requested engagement specificity level compared with zero-shot generation?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A2297E-62AE-FE31-06B0-CF0FB8B9B1FA}"/>
              </a:ext>
            </a:extLst>
          </p:cNvPr>
          <p:cNvSpPr/>
          <p:nvPr/>
        </p:nvSpPr>
        <p:spPr>
          <a:xfrm>
            <a:off x="604520" y="3775196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RQ3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5BC3A-14C8-F6B1-1270-3DAD49A235E8}"/>
              </a:ext>
            </a:extLst>
          </p:cNvPr>
          <p:cNvSpPr txBox="1"/>
          <p:nvPr/>
        </p:nvSpPr>
        <p:spPr>
          <a:xfrm>
            <a:off x="1976120" y="4003796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851576-3FB2-DA88-480D-8FABEBBCDD8F}"/>
              </a:ext>
            </a:extLst>
          </p:cNvPr>
          <p:cNvSpPr/>
          <p:nvPr/>
        </p:nvSpPr>
        <p:spPr>
          <a:xfrm>
            <a:off x="1823720" y="3775196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role do symbolic rules play in accepting responses and guiding revisions?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E5D4C6-EFBF-2FEE-9776-2373F1A39522}"/>
              </a:ext>
            </a:extLst>
          </p:cNvPr>
          <p:cNvSpPr/>
          <p:nvPr/>
        </p:nvSpPr>
        <p:spPr>
          <a:xfrm>
            <a:off x="604520" y="4976994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RQ4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58321F-C28A-0853-96CF-FB8BF8D3F0A0}"/>
              </a:ext>
            </a:extLst>
          </p:cNvPr>
          <p:cNvSpPr txBox="1"/>
          <p:nvPr/>
        </p:nvSpPr>
        <p:spPr>
          <a:xfrm>
            <a:off x="1976120" y="520559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408EBD-BCA2-1F60-9BF8-372152DFFA3A}"/>
              </a:ext>
            </a:extLst>
          </p:cNvPr>
          <p:cNvSpPr/>
          <p:nvPr/>
        </p:nvSpPr>
        <p:spPr>
          <a:xfrm>
            <a:off x="1823720" y="4976994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repeated revision guided by Verifier-A widen the gap between Verifier-A and Verifier-B scores?</a:t>
            </a:r>
          </a:p>
        </p:txBody>
      </p:sp>
    </p:spTree>
    <p:extLst>
      <p:ext uri="{BB962C8B-B14F-4D97-AF65-F5344CB8AC3E}">
        <p14:creationId xmlns:p14="http://schemas.microsoft.com/office/powerpoint/2010/main" val="42517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3412-3090-2CBF-F6D0-4F328D0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Related Work and Research Gap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562A3-540E-B28F-BDC1-57E281B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7363741-187A-8BA9-4515-B33A4303E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13940"/>
              </p:ext>
            </p:extLst>
          </p:nvPr>
        </p:nvGraphicFramePr>
        <p:xfrm>
          <a:off x="609601" y="1295401"/>
          <a:ext cx="10896598" cy="400470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35061">
                  <a:extLst>
                    <a:ext uri="{9D8B030D-6E8A-4147-A177-3AD203B41FA5}">
                      <a16:colId xmlns:a16="http://schemas.microsoft.com/office/drawing/2014/main" val="1523966324"/>
                    </a:ext>
                  </a:extLst>
                </a:gridCol>
                <a:gridCol w="1967441">
                  <a:extLst>
                    <a:ext uri="{9D8B030D-6E8A-4147-A177-3AD203B41FA5}">
                      <a16:colId xmlns:a16="http://schemas.microsoft.com/office/drawing/2014/main" val="1020388542"/>
                    </a:ext>
                  </a:extLst>
                </a:gridCol>
                <a:gridCol w="1513416">
                  <a:extLst>
                    <a:ext uri="{9D8B030D-6E8A-4147-A177-3AD203B41FA5}">
                      <a16:colId xmlns:a16="http://schemas.microsoft.com/office/drawing/2014/main" val="574090205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3543830107"/>
                    </a:ext>
                  </a:extLst>
                </a:gridCol>
                <a:gridCol w="1187981">
                  <a:extLst>
                    <a:ext uri="{9D8B030D-6E8A-4147-A177-3AD203B41FA5}">
                      <a16:colId xmlns:a16="http://schemas.microsoft.com/office/drawing/2014/main" val="136508105"/>
                    </a:ext>
                  </a:extLst>
                </a:gridCol>
                <a:gridCol w="1082143">
                  <a:extLst>
                    <a:ext uri="{9D8B030D-6E8A-4147-A177-3AD203B41FA5}">
                      <a16:colId xmlns:a16="http://schemas.microsoft.com/office/drawing/2014/main" val="3721175695"/>
                    </a:ext>
                  </a:extLst>
                </a:gridCol>
                <a:gridCol w="2194456">
                  <a:extLst>
                    <a:ext uri="{9D8B030D-6E8A-4147-A177-3AD203B41FA5}">
                      <a16:colId xmlns:a16="http://schemas.microsoft.com/office/drawing/2014/main" val="2048927069"/>
                    </a:ext>
                  </a:extLst>
                </a:gridCol>
              </a:tblGrid>
              <a:tr h="7096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Approach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Task / Language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Retrieval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Revision Signal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Symbolic Diagnosis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Outcome Scorer Isolated?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Human / Outcome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46996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Population-conditioned text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 conditioning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Study-specific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110316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FUDGE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Controlled text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Learned discriminator during decoding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metrics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547088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Self-Refine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Multi-task refinement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Same-model self-feedback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Task-dependent human and automatic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5017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HybridRAG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knowledge-base QA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BM25 + BGE-M3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Fine-tuned verifier and refiner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Competition token-F1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450323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SymDiag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Multi-step reasoning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Symbolic diagnosis supports repair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isolated A/B wall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Manually audited diagnosis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957693"/>
                  </a:ext>
                </a:extLst>
              </a:tr>
              <a:tr h="66532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Present Study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cinema-response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R1 level-specific exemplars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Verifier-A + bounded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Deterministic diagnostic rules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 outside the loop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 study + blinded output study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89012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B2AE0-6696-2B0C-400E-4A18EFD887F6}"/>
              </a:ext>
            </a:extLst>
          </p:cNvPr>
          <p:cNvSpPr/>
          <p:nvPr/>
        </p:nvSpPr>
        <p:spPr>
          <a:xfrm>
            <a:off x="1219200" y="5540414"/>
            <a:ext cx="1466266" cy="567293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Research Gap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7E835F-4DCF-975C-C855-CD32345064C4}"/>
              </a:ext>
            </a:extLst>
          </p:cNvPr>
          <p:cNvSpPr/>
          <p:nvPr/>
        </p:nvSpPr>
        <p:spPr>
          <a:xfrm>
            <a:off x="2685466" y="5540414"/>
            <a:ext cx="8153401" cy="56729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the studies reviewed, these components have not been jointly evaluated for Bangla cinema-response generation with verifier isolation and blinded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195889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E7AF-6858-9B9A-6B35-D81F9F8A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Methodology (Study Design)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ECE73-0D60-924E-7A09-CED12566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3FD9C-B010-1F60-7D6B-A122F0CA1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1190229"/>
            <a:ext cx="8001000" cy="513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7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EBB8-8685-6CC6-5455-0B529F4E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Data Preparation and Axis Discovery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00A47-DF52-C571-AB8B-83E56A84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6D4D04-E69A-58BB-0661-E71A5E325F84}"/>
              </a:ext>
            </a:extLst>
          </p:cNvPr>
          <p:cNvSpPr/>
          <p:nvPr/>
        </p:nvSpPr>
        <p:spPr>
          <a:xfrm>
            <a:off x="8001000" y="1493248"/>
            <a:ext cx="3581400" cy="4692650"/>
          </a:xfrm>
          <a:prstGeom prst="roundRect">
            <a:avLst>
              <a:gd name="adj" fmla="val 98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03 </a:t>
            </a:r>
            <a:r>
              <a:rPr lang="en-US" sz="1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EVIDENCE &amp; INTERPRETATION</a:t>
            </a:r>
            <a:endParaRPr lang="en-US" sz="14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560053-DF6D-DDE4-7632-68BEE155CB37}"/>
              </a:ext>
            </a:extLst>
          </p:cNvPr>
          <p:cNvSpPr/>
          <p:nvPr/>
        </p:nvSpPr>
        <p:spPr>
          <a:xfrm>
            <a:off x="510230" y="1509930"/>
            <a:ext cx="3581400" cy="4692650"/>
          </a:xfrm>
          <a:prstGeom prst="roundRect">
            <a:avLst>
              <a:gd name="adj" fmla="val 95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 </a:t>
            </a:r>
            <a:r>
              <a:rPr lang="en-US" sz="13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51A93C-D4D4-04AB-5EAD-A0E5080C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75" y="1828800"/>
            <a:ext cx="724678" cy="3221986"/>
          </a:xfrm>
          <a:prstGeom prst="rect">
            <a:avLst/>
          </a:prstGeom>
        </p:spPr>
      </p:pic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18CC30FE-283E-95B9-11C2-B1FB783E7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440842"/>
              </p:ext>
            </p:extLst>
          </p:nvPr>
        </p:nvGraphicFramePr>
        <p:xfrm>
          <a:off x="954094" y="1905000"/>
          <a:ext cx="3048000" cy="2895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19928">
                  <a:extLst>
                    <a:ext uri="{9D8B030D-6E8A-4147-A177-3AD203B41FA5}">
                      <a16:colId xmlns:a16="http://schemas.microsoft.com/office/drawing/2014/main" val="970354316"/>
                    </a:ext>
                  </a:extLst>
                </a:gridCol>
                <a:gridCol w="2328072">
                  <a:extLst>
                    <a:ext uri="{9D8B030D-6E8A-4147-A177-3AD203B41FA5}">
                      <a16:colId xmlns:a16="http://schemas.microsoft.com/office/drawing/2014/main" val="36222213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 Bangla reviews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817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4,730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rule-based quality control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146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- 105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duplicates removed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LaBSE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cosine threshold = 0.95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1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4,625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 analysis surface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060"/>
                  </a:ext>
                </a:extLst>
              </a:tr>
            </a:tbl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C1E8DC-6F7D-54FA-5D44-7407D5AC425C}"/>
              </a:ext>
            </a:extLst>
          </p:cNvPr>
          <p:cNvSpPr/>
          <p:nvPr/>
        </p:nvSpPr>
        <p:spPr>
          <a:xfrm>
            <a:off x="4275054" y="1493248"/>
            <a:ext cx="3581400" cy="4692650"/>
          </a:xfrm>
          <a:prstGeom prst="roundRect">
            <a:avLst>
              <a:gd name="adj" fmla="val 95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02 </a:t>
            </a:r>
            <a:r>
              <a:rPr lang="en-US" sz="13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AXIS DISCOVERY</a:t>
            </a:r>
            <a:endParaRPr lang="en-US" sz="18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BA51E0-40DD-C706-5765-5FD3D16E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508" y="1828800"/>
            <a:ext cx="724678" cy="3221986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6D0CC80-362C-1C93-BB76-6B9BDA8B715E}"/>
              </a:ext>
            </a:extLst>
          </p:cNvPr>
          <p:cNvSpPr/>
          <p:nvPr/>
        </p:nvSpPr>
        <p:spPr>
          <a:xfrm>
            <a:off x="1374466" y="4939316"/>
            <a:ext cx="1846526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Splits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8D0FED-4825-F278-67EC-EE3AE1B3F8E3}"/>
              </a:ext>
            </a:extLst>
          </p:cNvPr>
          <p:cNvSpPr/>
          <p:nvPr/>
        </p:nvSpPr>
        <p:spPr>
          <a:xfrm>
            <a:off x="683070" y="5379580"/>
            <a:ext cx="3235720" cy="60208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Gold-300: 300 · R1: 2,162 · R2: 2,163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19">
            <a:extLst>
              <a:ext uri="{FF2B5EF4-FFF2-40B4-BE49-F238E27FC236}">
                <a16:creationId xmlns:a16="http://schemas.microsoft.com/office/drawing/2014/main" id="{40D5AA63-6B74-72D4-8020-81CDC6B6D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470254"/>
              </p:ext>
            </p:extLst>
          </p:nvPr>
        </p:nvGraphicFramePr>
        <p:xfrm>
          <a:off x="4724401" y="1928583"/>
          <a:ext cx="3132054" cy="31006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32054">
                  <a:extLst>
                    <a:ext uri="{9D8B030D-6E8A-4147-A177-3AD203B41FA5}">
                      <a16:colId xmlns:a16="http://schemas.microsoft.com/office/drawing/2014/main" val="970354316"/>
                    </a:ext>
                  </a:extLst>
                </a:gridCol>
              </a:tblGrid>
              <a:tr h="81461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Region-A Reviews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 B retained as a negative control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81757"/>
                  </a:ext>
                </a:extLst>
              </a:tr>
              <a:tr h="78659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LaBSE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Representations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Candidate cuts evaluated for K = 2–8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14650"/>
                  </a:ext>
                </a:extLst>
              </a:tr>
              <a:tr h="7374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Multi-Diagnostic Assessment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Stability · Separation · Density · Confounds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1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 = 2 Operational Cut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levels carried to controlled generation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060"/>
                  </a:ext>
                </a:extLst>
              </a:tr>
            </a:tbl>
          </a:graphicData>
        </a:graphic>
      </p:graphicFrame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CF4C1D-77A9-571C-84AE-904C68CF4929}"/>
              </a:ext>
            </a:extLst>
          </p:cNvPr>
          <p:cNvSpPr/>
          <p:nvPr/>
        </p:nvSpPr>
        <p:spPr>
          <a:xfrm>
            <a:off x="4391137" y="5177522"/>
            <a:ext cx="3310356" cy="610631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Continuum cut—not natural groups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6005299-D741-6AB7-3C78-F2D2A53F5F72}"/>
              </a:ext>
            </a:extLst>
          </p:cNvPr>
          <p:cNvSpPr/>
          <p:nvPr/>
        </p:nvSpPr>
        <p:spPr>
          <a:xfrm>
            <a:off x="8116560" y="21336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Reproducible Under the Registered Rule</a:t>
            </a:r>
          </a:p>
          <a:p>
            <a:pPr algn="just"/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strength: 0.8605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Pre-specified cutoff: ≥ 0.80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Bootstrap ARI: 0.9399 ± 0.0290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03DC49-3E7B-2D5E-2CCD-86F30817EEE1}"/>
              </a:ext>
            </a:extLst>
          </p:cNvPr>
          <p:cNvSpPr/>
          <p:nvPr/>
        </p:nvSpPr>
        <p:spPr>
          <a:xfrm>
            <a:off x="8116560" y="34290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Discrete</a:t>
            </a:r>
          </a:p>
          <a:p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Silhouette: 0.0534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statistic: No K selected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HDBSCAN: 100% noise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ACDA73-28EE-3A13-4D15-6289E49B7E12}"/>
              </a:ext>
            </a:extLst>
          </p:cNvPr>
          <p:cNvSpPr/>
          <p:nvPr/>
        </p:nvSpPr>
        <p:spPr>
          <a:xfrm>
            <a:off x="8116560" y="47244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Human-Recognizable</a:t>
            </a:r>
          </a:p>
          <a:p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Intrusion accuracy: 0.780 / 0.840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 judgment: 0.850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 heuristic: 0.160</a:t>
            </a:r>
          </a:p>
        </p:txBody>
      </p:sp>
    </p:spTree>
    <p:extLst>
      <p:ext uri="{BB962C8B-B14F-4D97-AF65-F5344CB8AC3E}">
        <p14:creationId xmlns:p14="http://schemas.microsoft.com/office/powerpoint/2010/main" val="418903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4AFC-C3DF-9524-A1DC-7F13812F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Dual-Verifier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93F12-1D72-290C-98FD-208660F5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F6395C-16A6-9C2E-A60F-814F5139B45C}"/>
              </a:ext>
            </a:extLst>
          </p:cNvPr>
          <p:cNvGrpSpPr/>
          <p:nvPr/>
        </p:nvGrpSpPr>
        <p:grpSpPr>
          <a:xfrm>
            <a:off x="914401" y="1518451"/>
            <a:ext cx="4267199" cy="4577549"/>
            <a:chOff x="609600" y="1518451"/>
            <a:chExt cx="4267199" cy="45775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AC76E3-484B-8971-D9D0-7DB97397A107}"/>
                </a:ext>
              </a:extLst>
            </p:cNvPr>
            <p:cNvSpPr/>
            <p:nvPr/>
          </p:nvSpPr>
          <p:spPr>
            <a:xfrm>
              <a:off x="609600" y="2104624"/>
              <a:ext cx="4267199" cy="3991376"/>
            </a:xfrm>
            <a:prstGeom prst="roundRect">
              <a:avLst>
                <a:gd name="adj" fmla="val 947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Verifier-A</a:t>
              </a:r>
            </a:p>
            <a:p>
              <a:pPr algn="just"/>
              <a:endParaRPr lang="en-US" sz="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  <a:p>
              <a:pPr algn="just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Frozen </a:t>
              </a:r>
              <a:r>
                <a: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LaBSE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encoder + L2-regularised logistic head</a:t>
              </a: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on 804 labelled R1 reviews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Scores drafts inside the generation loop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Supports acceptance and bounded retry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Selects candidates only where registered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E0990C4-4B61-9B56-0F47-97EFE173E627}"/>
                </a:ext>
              </a:extLst>
            </p:cNvPr>
            <p:cNvSpPr/>
            <p:nvPr/>
          </p:nvSpPr>
          <p:spPr>
            <a:xfrm>
              <a:off x="762007" y="1518451"/>
              <a:ext cx="2514590" cy="386549"/>
            </a:xfrm>
            <a:prstGeom prst="roundRect">
              <a:avLst>
                <a:gd name="adj" fmla="val 22097"/>
              </a:avLst>
            </a:prstGeom>
            <a:solidFill>
              <a:schemeClr val="accent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IN-LOOP CONTROLLER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3DC983-CFBF-9182-F92E-9FE58557A8D1}"/>
              </a:ext>
            </a:extLst>
          </p:cNvPr>
          <p:cNvGrpSpPr/>
          <p:nvPr/>
        </p:nvGrpSpPr>
        <p:grpSpPr>
          <a:xfrm>
            <a:off x="5695949" y="1828800"/>
            <a:ext cx="800101" cy="4343400"/>
            <a:chOff x="5676899" y="1828799"/>
            <a:chExt cx="800101" cy="43434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932209-C7AF-614A-4A83-D3AAF9C0748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28799"/>
              <a:ext cx="0" cy="434340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1595F7B-99C5-808E-87DA-F5F8C8A66357}"/>
                </a:ext>
              </a:extLst>
            </p:cNvPr>
            <p:cNvSpPr/>
            <p:nvPr/>
          </p:nvSpPr>
          <p:spPr>
            <a:xfrm rot="16200000">
              <a:off x="5429854" y="3600448"/>
              <a:ext cx="1294192" cy="800101"/>
            </a:xfrm>
            <a:prstGeom prst="roundRect">
              <a:avLst>
                <a:gd name="adj" fmla="val 2209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PRIVILEGE ISOLATION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353DDF-FA26-2E18-5831-83960BE8608D}"/>
              </a:ext>
            </a:extLst>
          </p:cNvPr>
          <p:cNvGrpSpPr/>
          <p:nvPr/>
        </p:nvGrpSpPr>
        <p:grpSpPr>
          <a:xfrm>
            <a:off x="7010400" y="1518451"/>
            <a:ext cx="4267199" cy="4577549"/>
            <a:chOff x="609600" y="1518451"/>
            <a:chExt cx="4267199" cy="457754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A64C46A-44F8-D7CD-9089-1E3B7E6A800D}"/>
                </a:ext>
              </a:extLst>
            </p:cNvPr>
            <p:cNvSpPr/>
            <p:nvPr/>
          </p:nvSpPr>
          <p:spPr>
            <a:xfrm>
              <a:off x="609600" y="2104624"/>
              <a:ext cx="4267199" cy="3991376"/>
            </a:xfrm>
            <a:prstGeom prst="roundRect">
              <a:avLst>
                <a:gd name="adj" fmla="val 947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Verifier-B</a:t>
              </a:r>
            </a:p>
            <a:p>
              <a:pPr algn="just"/>
              <a:endParaRPr lang="en-US" sz="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  <a:p>
              <a:pPr algn="just"/>
              <a:r>
                <a: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BanglaBERT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· fine-tuned from scratch</a:t>
              </a: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on 888 disjoint R2 reviews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Scores sealed outputs after generation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 no access to retrieval or prompts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Cannot provide feedback or trigger regeneration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9D6A93B-D390-C50A-C57A-7F2202D98A1B}"/>
                </a:ext>
              </a:extLst>
            </p:cNvPr>
            <p:cNvSpPr/>
            <p:nvPr/>
          </p:nvSpPr>
          <p:spPr>
            <a:xfrm>
              <a:off x="762007" y="1518451"/>
              <a:ext cx="2514584" cy="386549"/>
            </a:xfrm>
            <a:prstGeom prst="roundRect">
              <a:avLst>
                <a:gd name="adj" fmla="val 22097"/>
              </a:avLst>
            </a:prstGeom>
            <a:solidFill>
              <a:schemeClr val="accent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OUTCOME EVALUATOR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01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3B2D-86E7-9B3D-936C-ABFB5CA2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Experimental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E5E9D-E380-992D-C520-47C0CFF3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8D5F0B4-0B16-4DC3-48F6-E6A91393A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12541"/>
              </p:ext>
            </p:extLst>
          </p:nvPr>
        </p:nvGraphicFramePr>
        <p:xfrm>
          <a:off x="624840" y="1371600"/>
          <a:ext cx="8061960" cy="389551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687320">
                  <a:extLst>
                    <a:ext uri="{9D8B030D-6E8A-4147-A177-3AD203B41FA5}">
                      <a16:colId xmlns:a16="http://schemas.microsoft.com/office/drawing/2014/main" val="1685866983"/>
                    </a:ext>
                  </a:extLst>
                </a:gridCol>
                <a:gridCol w="2687320">
                  <a:extLst>
                    <a:ext uri="{9D8B030D-6E8A-4147-A177-3AD203B41FA5}">
                      <a16:colId xmlns:a16="http://schemas.microsoft.com/office/drawing/2014/main" val="3292131794"/>
                    </a:ext>
                  </a:extLst>
                </a:gridCol>
                <a:gridCol w="2687320">
                  <a:extLst>
                    <a:ext uri="{9D8B030D-6E8A-4147-A177-3AD203B41FA5}">
                      <a16:colId xmlns:a16="http://schemas.microsoft.com/office/drawing/2014/main" val="4221436828"/>
                    </a:ext>
                  </a:extLst>
                </a:gridCol>
              </a:tblGrid>
              <a:tr h="75607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Role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the Comparison Tests?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65162"/>
                  </a:ext>
                </a:extLst>
              </a:tr>
              <a:tr h="50404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Zero-shot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without examples or generation control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355390"/>
                  </a:ext>
                </a:extLst>
              </a:tr>
              <a:tr h="50404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Conditioning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few-shot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RAG-only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examples versus level-specific retrieval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337234"/>
                  </a:ext>
                </a:extLst>
              </a:tr>
              <a:tr h="919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Gated Revision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Neural gate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Symbolic gate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Neural gate + symbolic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Acceptance control and the role of diagnostic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32615"/>
                  </a:ext>
                </a:extLst>
              </a:tr>
              <a:tr h="11266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Controls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Intrinsic self-critique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External-role self-critique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Hosted-judge loop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Budget-matched blind resampling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Revision versus critique, stronger judging and additional sampling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9072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2202AA4-A432-4980-DE25-B41B70B2B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97541"/>
              </p:ext>
            </p:extLst>
          </p:nvPr>
        </p:nvGraphicFramePr>
        <p:xfrm>
          <a:off x="8915400" y="1371600"/>
          <a:ext cx="2667000" cy="389551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9619129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30315685"/>
                    </a:ext>
                  </a:extLst>
                </a:gridCol>
              </a:tblGrid>
              <a:tr h="64925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Surface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185158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Held-out plots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026000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Requested axis levels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980008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Experimental conditions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56351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Paired replicates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375063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cases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889080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A97DFF1-E47D-5457-FCEE-D5CAE61E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29056"/>
              </p:ext>
            </p:extLst>
          </p:nvPr>
        </p:nvGraphicFramePr>
        <p:xfrm>
          <a:off x="624840" y="5451475"/>
          <a:ext cx="10957560" cy="741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39390">
                  <a:extLst>
                    <a:ext uri="{9D8B030D-6E8A-4147-A177-3AD203B41FA5}">
                      <a16:colId xmlns:a16="http://schemas.microsoft.com/office/drawing/2014/main" val="1452145501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1874797227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1081709057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763751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Confirmatory Family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93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 target probability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× level × replicate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active conditions vs zero-shot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Bootstrap ·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McNemar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· BH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04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5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FB92-5C35-C020-3CCC-00047968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Experimental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52867A-4260-8008-BCDC-936177DA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8C582-3C5B-3FF9-58EB-13378DA4B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10972800" cy="438912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A207C7-DA35-D65C-8100-159EB41DBDD9}"/>
              </a:ext>
            </a:extLst>
          </p:cNvPr>
          <p:cNvSpPr/>
          <p:nvPr/>
        </p:nvSpPr>
        <p:spPr>
          <a:xfrm>
            <a:off x="874222" y="5711190"/>
            <a:ext cx="192578" cy="51943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10DE3-F5D8-FF1E-85A2-2536888D475C}"/>
              </a:ext>
            </a:extLst>
          </p:cNvPr>
          <p:cNvSpPr txBox="1"/>
          <p:nvPr/>
        </p:nvSpPr>
        <p:spPr>
          <a:xfrm>
            <a:off x="2164350" y="5907333"/>
            <a:ext cx="7646461" cy="228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A6234B-0213-80A2-7489-75570D8D7C18}"/>
              </a:ext>
            </a:extLst>
          </p:cNvPr>
          <p:cNvSpPr/>
          <p:nvPr/>
        </p:nvSpPr>
        <p:spPr>
          <a:xfrm>
            <a:off x="1066800" y="5705178"/>
            <a:ext cx="10058400" cy="5194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nine preregistered contrasts were positive, with 95% paired-bootstrap intervals excluding zero.</a:t>
            </a:r>
          </a:p>
        </p:txBody>
      </p:sp>
    </p:spTree>
    <p:extLst>
      <p:ext uri="{BB962C8B-B14F-4D97-AF65-F5344CB8AC3E}">
        <p14:creationId xmlns:p14="http://schemas.microsoft.com/office/powerpoint/2010/main" val="414336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BECA-E797-A809-8136-0B427EA4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Human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F0C95B-34C5-9822-F926-89E8167D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751C4F7-1E12-B772-9724-E2A0D7E5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73334"/>
              </p:ext>
            </p:extLst>
          </p:nvPr>
        </p:nvGraphicFramePr>
        <p:xfrm>
          <a:off x="5029200" y="2426218"/>
          <a:ext cx="6553200" cy="3352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323714124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313013596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84715731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20461355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L1 − L0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9578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 majority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29374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+0.14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51417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89997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E2A1B4-C656-8DB1-666A-1AADA3E0BD04}"/>
              </a:ext>
            </a:extLst>
          </p:cNvPr>
          <p:cNvSpPr/>
          <p:nvPr/>
        </p:nvSpPr>
        <p:spPr>
          <a:xfrm>
            <a:off x="624286" y="1343491"/>
            <a:ext cx="192578" cy="51943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F9FFE8-4266-1B9A-0371-7DA9909AE029}"/>
              </a:ext>
            </a:extLst>
          </p:cNvPr>
          <p:cNvSpPr/>
          <p:nvPr/>
        </p:nvSpPr>
        <p:spPr>
          <a:xfrm>
            <a:off x="816864" y="1337479"/>
            <a:ext cx="7641336" cy="5194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native Bangla-speaking annotators • 100 blinded outputs • 300 judgments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CA87ED-3297-00C2-9363-5F3F82A91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640550"/>
              </p:ext>
            </p:extLst>
          </p:nvPr>
        </p:nvGraphicFramePr>
        <p:xfrm>
          <a:off x="609600" y="2357120"/>
          <a:ext cx="3962400" cy="3510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564524078"/>
                    </a:ext>
                  </a:extLst>
                </a:gridCol>
              </a:tblGrid>
              <a:tr h="1926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POOLED HUMAN JUDGMENTS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91.3%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Requested-level accuracy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CI [86.7%, 95.7%]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02088"/>
                  </a:ext>
                </a:extLst>
              </a:tr>
              <a:tr h="14436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INTER-RATER AGREEMENT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Krippendorff’s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l-G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 = 0.841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 [0.747, 0.920]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74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DB10-E67D-CCE5-34D0-1BD34194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Diagnostic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CE5DEE-5E99-A594-0583-A093B4C4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035A34-D085-2D26-EFAA-62EBDB12061C}"/>
              </a:ext>
            </a:extLst>
          </p:cNvPr>
          <p:cNvSpPr/>
          <p:nvPr/>
        </p:nvSpPr>
        <p:spPr>
          <a:xfrm>
            <a:off x="609600" y="4269640"/>
            <a:ext cx="4563980" cy="188708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− NEURAL-ONLY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 target probability: +0.02159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 binary accuracy: +0.02037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McNemar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 = 0.11728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statistically significant difference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77BB06-8366-3E6A-0663-9B980A63C174}"/>
              </a:ext>
            </a:extLst>
          </p:cNvPr>
          <p:cNvSpPr/>
          <p:nvPr/>
        </p:nvSpPr>
        <p:spPr>
          <a:xfrm>
            <a:off x="1066808" y="1518451"/>
            <a:ext cx="2285992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Symbolic Roles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5FF48E-B810-DE8E-93F7-55B63E59D6CE}"/>
              </a:ext>
            </a:extLst>
          </p:cNvPr>
          <p:cNvCxnSpPr>
            <a:cxnSpLocks/>
          </p:cNvCxnSpPr>
          <p:nvPr/>
        </p:nvCxnSpPr>
        <p:spPr>
          <a:xfrm>
            <a:off x="5410200" y="1828800"/>
            <a:ext cx="0" cy="4343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FB5B0F-D1B0-CDB8-3AC1-C74452796C32}"/>
              </a:ext>
            </a:extLst>
          </p:cNvPr>
          <p:cNvSpPr/>
          <p:nvPr/>
        </p:nvSpPr>
        <p:spPr>
          <a:xfrm>
            <a:off x="7162806" y="1518451"/>
            <a:ext cx="2666987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Verifier Divergence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AC1D38-494A-8D06-CF21-BD009617B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822" y="2280451"/>
            <a:ext cx="5867395" cy="331507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485D7F-7A0D-F6EC-A693-1D42C95205E5}"/>
              </a:ext>
            </a:extLst>
          </p:cNvPr>
          <p:cNvSpPr/>
          <p:nvPr/>
        </p:nvSpPr>
        <p:spPr>
          <a:xfrm>
            <a:off x="609600" y="2136040"/>
            <a:ext cx="4563980" cy="1902560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SYMBOLIC-ONLY ACCEPTANCE GATE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Level-0 accuracy: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0.5185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Level-1 give-up rate: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53.33%</a:t>
            </a:r>
          </a:p>
        </p:txBody>
      </p:sp>
    </p:spTree>
    <p:extLst>
      <p:ext uri="{BB962C8B-B14F-4D97-AF65-F5344CB8AC3E}">
        <p14:creationId xmlns:p14="http://schemas.microsoft.com/office/powerpoint/2010/main" val="382037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E433-F019-E544-F676-201A3FC5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Contributions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A64BC-F3AC-46DE-AED8-1FA9A725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6B9BA7A-092C-2E28-D4F4-6A2FD9DA0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200429"/>
              </p:ext>
            </p:extLst>
          </p:nvPr>
        </p:nvGraphicFramePr>
        <p:xfrm>
          <a:off x="609600" y="1371600"/>
          <a:ext cx="10972800" cy="4800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052337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1774332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142072996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 Isolation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Separated the in-loop Verifier-A from the held-out Verifier-B, making proxy divergence observable.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30547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Bounded and Auditable Generation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a Researcher–Writer–Critic–Reflector workflow with bounded revision, recorded compute, and attempt-level traces.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5715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 and Measurement Validation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Rejected the unsupported persona interpretation and retained a human-recognizable two-level operational distinction—not natural audience clusters.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50025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Blinded Human Evidence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Demonstrated requested-level recoverability through 300 blinded judgments from native Bangla-speaking annotators.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9537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 Role of Symbolic Information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Distinguished symbolic diagnosis from adjudication: symbolic-only gating was weak, while diagnostic feedback provided an interpretable correction mechanism.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83843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7D4C27B-E907-5B4C-367A-34DE2D800DFB}"/>
              </a:ext>
            </a:extLst>
          </p:cNvPr>
          <p:cNvSpPr/>
          <p:nvPr/>
        </p:nvSpPr>
        <p:spPr>
          <a:xfrm>
            <a:off x="952500" y="1546058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23C1EB-A869-492F-1C28-651AC91E5CAE}"/>
              </a:ext>
            </a:extLst>
          </p:cNvPr>
          <p:cNvSpPr/>
          <p:nvPr/>
        </p:nvSpPr>
        <p:spPr>
          <a:xfrm>
            <a:off x="952500" y="2514600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5BAD26-67F7-B99C-CB4A-BE62EB3B502C}"/>
              </a:ext>
            </a:extLst>
          </p:cNvPr>
          <p:cNvSpPr/>
          <p:nvPr/>
        </p:nvSpPr>
        <p:spPr>
          <a:xfrm>
            <a:off x="952500" y="3451058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3EBEB4-7AD3-A9E9-2CD3-583D8FD9AFF1}"/>
              </a:ext>
            </a:extLst>
          </p:cNvPr>
          <p:cNvSpPr/>
          <p:nvPr/>
        </p:nvSpPr>
        <p:spPr>
          <a:xfrm>
            <a:off x="952500" y="4384563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515DD5-F25B-B140-B34A-A2EF7C5D074E}"/>
              </a:ext>
            </a:extLst>
          </p:cNvPr>
          <p:cNvSpPr/>
          <p:nvPr/>
        </p:nvSpPr>
        <p:spPr>
          <a:xfrm>
            <a:off x="952500" y="5311942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7019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754F-A0D6-1E42-E187-52203923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478E"/>
                </a:solidFill>
                <a:latin typeface="Arial Black" panose="020B0A04020102020204" pitchFamily="34" charset="0"/>
              </a:rPr>
              <a:t>Limitations and Future Work</a:t>
            </a:r>
            <a:endParaRPr lang="en-US" dirty="0">
              <a:solidFill>
                <a:srgbClr val="00478E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EA848-7D3E-7905-E757-6D29C3C3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41612A-38FA-DB7F-9184-1817EBA59646}"/>
              </a:ext>
            </a:extLst>
          </p:cNvPr>
          <p:cNvSpPr/>
          <p:nvPr/>
        </p:nvSpPr>
        <p:spPr>
          <a:xfrm>
            <a:off x="1295401" y="2107231"/>
            <a:ext cx="5562599" cy="399137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Human Sample: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native Bangla-speaking annotators assessed 100 outputs, producing 300 judgments.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Length–Level Entanglement: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response length remains associated with the requested engagement-specificity level.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Proxy-Based Evaluation: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Verifier-B is an isolated outcome measure—not human ground truth.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Unconfirmed Symbolic Advantage: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hybrid loop was not shown to outperform the neural-only loop in a confirmatory test.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Film-Linked Ground Truth: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corpus contains no film identifiers or real pre-release audience responses.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AF8215-4DEC-94B9-30CB-B1536DA4FD88}"/>
              </a:ext>
            </a:extLst>
          </p:cNvPr>
          <p:cNvSpPr/>
          <p:nvPr/>
        </p:nvSpPr>
        <p:spPr>
          <a:xfrm>
            <a:off x="1472001" y="1521058"/>
            <a:ext cx="1576000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BDEAC2-264D-5591-1E22-99160FF4BF4C}"/>
              </a:ext>
            </a:extLst>
          </p:cNvPr>
          <p:cNvSpPr/>
          <p:nvPr/>
        </p:nvSpPr>
        <p:spPr>
          <a:xfrm>
            <a:off x="7086600" y="2104624"/>
            <a:ext cx="4267199" cy="399137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 a larger and more diverse human sample with prospective ethics documentation.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length-neutral controls and test whether the requested distinction remains recoverable.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Stress-test both verifiers and validate their scores against human judgments.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Preregister a powered direct comparison between the neural-only and hybrid loops.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 film-linked audience data before making any audience-prediction claim.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2701A4-8327-A8E7-7B39-FCD9291F6289}"/>
              </a:ext>
            </a:extLst>
          </p:cNvPr>
          <p:cNvSpPr/>
          <p:nvPr/>
        </p:nvSpPr>
        <p:spPr>
          <a:xfrm>
            <a:off x="7239007" y="1518451"/>
            <a:ext cx="1828792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354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C0D0-E33C-8139-30DF-06B09EAA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59E978-EC31-027F-3234-DAA90FFC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2B55EE-2256-E369-2D17-4C50BD4DC6EC}"/>
              </a:ext>
            </a:extLst>
          </p:cNvPr>
          <p:cNvSpPr/>
          <p:nvPr/>
        </p:nvSpPr>
        <p:spPr>
          <a:xfrm>
            <a:off x="609600" y="1371600"/>
            <a:ext cx="10972800" cy="4800600"/>
          </a:xfrm>
          <a:prstGeom prst="roundRect">
            <a:avLst>
              <a:gd name="adj" fmla="val 109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Construct: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reproducible Region-A continuum cut was human-recognizable under length-matched comparative judgment, but it was not a natural audience cluster and generated length remained entangled with the requested level.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Controlled generation: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nine registered alternatives increased sealed Verifier-B target probability relative to zero-shot; on the balanced 100-item subset, readers achieved 91.3% target-level match.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Symbolic role: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Symbolic-only acceptance gating was weak. Symbolic rules were more defensible as diagnostic revision guidance, but hybrid superiority over the neural-only loop was not established.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Verifier risk: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two neural-gated loops, Verifier-A–Verifier-B gaps widened across revisions, consistent with proxy overoptimization—not evidence of declining human-perceived quality.</a:t>
            </a:r>
          </a:p>
        </p:txBody>
      </p:sp>
    </p:spTree>
    <p:extLst>
      <p:ext uri="{BB962C8B-B14F-4D97-AF65-F5344CB8AC3E}">
        <p14:creationId xmlns:p14="http://schemas.microsoft.com/office/powerpoint/2010/main" val="82344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61B7C-7A03-C626-834A-E295EE1C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A803E-CBC9-0BE3-A615-54C4DE91BDD2}"/>
              </a:ext>
            </a:extLst>
          </p:cNvPr>
          <p:cNvSpPr/>
          <p:nvPr/>
        </p:nvSpPr>
        <p:spPr>
          <a:xfrm>
            <a:off x="1524000" y="990600"/>
            <a:ext cx="9067800" cy="4572000"/>
          </a:xfrm>
          <a:prstGeom prst="roundRect">
            <a:avLst>
              <a:gd name="adj" fmla="val 22097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</a:t>
            </a:r>
          </a:p>
          <a:p>
            <a:pPr algn="ctr"/>
            <a:r>
              <a:rPr lang="en-US" sz="96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3636524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52BF-82BD-FBB9-B022-C498C0E6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Additional Slides (Dataset)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016A1-2D7E-2438-4027-A99B4D15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BF74CE-CA19-8FE3-3460-32715716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8238"/>
            <a:ext cx="7484166" cy="4191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03C0B1-1C69-9FB7-E245-0833E7EB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409205"/>
            <a:ext cx="3049003" cy="47290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2224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EED4-6761-8E24-E3A7-FC144BD3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Additional Slide (Interface)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85F9CD-5CA5-87A1-208D-B5322D30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52ECFE-AEEC-F3D7-6A12-4AFCD22D1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600"/>
            <a:ext cx="7538720" cy="459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01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8AAA-F173-17D0-F621-E2C14234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Additional Slide (Interface)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B126D-4CF6-47C8-59A5-01430B8C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52181-CA40-80C6-00F7-FDE5E8CA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95400"/>
            <a:ext cx="8534400" cy="44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14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4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0070C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29630</TotalTime>
  <Words>1612</Words>
  <Application>Microsoft Office PowerPoint</Application>
  <PresentationFormat>Widescreen</PresentationFormat>
  <Paragraphs>336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PowerPoint Presentation</vt:lpstr>
      <vt:lpstr>Background</vt:lpstr>
      <vt:lpstr>Motivation</vt:lpstr>
      <vt:lpstr>Problem Statement</vt:lpstr>
      <vt:lpstr>Research Aim and Objectives</vt:lpstr>
      <vt:lpstr>Research Questions</vt:lpstr>
      <vt:lpstr>Related Work and Research Gap</vt:lpstr>
      <vt:lpstr>Methodology (Study Design)</vt:lpstr>
      <vt:lpstr>Data Preparation and Axis Discovery</vt:lpstr>
      <vt:lpstr>Dual-Verifier Design</vt:lpstr>
      <vt:lpstr>Experimental Design</vt:lpstr>
      <vt:lpstr>Experimental Results</vt:lpstr>
      <vt:lpstr>Human Evaluation</vt:lpstr>
      <vt:lpstr>Diagnostic Findings</vt:lpstr>
      <vt:lpstr>Research Contributions</vt:lpstr>
      <vt:lpstr>Limitations and Future Work</vt:lpstr>
      <vt:lpstr>Conclusion</vt:lpstr>
      <vt:lpstr>PowerPoint Presentation</vt:lpstr>
      <vt:lpstr>Additional Slides (Dataset)</vt:lpstr>
      <vt:lpstr>Additional Slide (Interface)</vt:lpstr>
      <vt:lpstr>Additional Slide (Interface)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Kyaching</dc:creator>
  <cp:lastModifiedBy>Sabbir Hossain</cp:lastModifiedBy>
  <cp:revision>1484</cp:revision>
  <dcterms:created xsi:type="dcterms:W3CDTF">2015-11-22T13:06:13Z</dcterms:created>
  <dcterms:modified xsi:type="dcterms:W3CDTF">2026-09-06T16:11:34Z</dcterms:modified>
</cp:coreProperties>
</file>